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c10a5aca3c49b3" /><Relationship Type="http://schemas.openxmlformats.org/officeDocument/2006/relationships/extended-properties" Target="/docProps/app.xml" Id="Rbfb0f63a17e54fb9" /><Relationship Type="http://schemas.openxmlformats.org/officeDocument/2006/relationships/officeDocument" Target="/ppt/presentation.xml" Id="Ra7ef0f16b8a54b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45d5dd8b0472e"/>
  </p:sldMasterIdLst>
  <p:notesMasterIdLst>
    <p:notesMasterId xmlns:r="http://schemas.openxmlformats.org/officeDocument/2006/relationships" r:id="R369a4d05d5664f0a"/>
  </p:notesMasterIdLst>
  <p:sldIdLst>
    <p:sldId xmlns:r="http://schemas.openxmlformats.org/officeDocument/2006/relationships" id="256" r:id="Rf6affcde38fd41f6"/>
    <p:sldId xmlns:r="http://schemas.openxmlformats.org/officeDocument/2006/relationships" id="257" r:id="R84f0f3ecca794db2"/>
    <p:sldId xmlns:r="http://schemas.openxmlformats.org/officeDocument/2006/relationships" id="258" r:id="R68d3202d0e054e7b"/>
    <p:sldId xmlns:r="http://schemas.openxmlformats.org/officeDocument/2006/relationships" id="259" r:id="R17f580c239ab46be"/>
    <p:sldId xmlns:r="http://schemas.openxmlformats.org/officeDocument/2006/relationships" id="260" r:id="R3fb3e6095d944ffe"/>
    <p:sldId xmlns:r="http://schemas.openxmlformats.org/officeDocument/2006/relationships" id="261" r:id="R3353c86213c44d93"/>
    <p:sldId xmlns:r="http://schemas.openxmlformats.org/officeDocument/2006/relationships" id="262" r:id="R6a93a4e579164321"/>
    <p:sldId xmlns:r="http://schemas.openxmlformats.org/officeDocument/2006/relationships" id="263" r:id="Rdf60f57a4deb4ac8"/>
    <p:sldId xmlns:r="http://schemas.openxmlformats.org/officeDocument/2006/relationships" id="264" r:id="Recb28466a6364ade"/>
    <p:sldId xmlns:r="http://schemas.openxmlformats.org/officeDocument/2006/relationships" id="265" r:id="Re4bd92f8be724de5"/>
    <p:sldId xmlns:r="http://schemas.openxmlformats.org/officeDocument/2006/relationships" id="266" r:id="Rfd33973c4dde41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0cbf333b8424d" /><Relationship Type="http://schemas.openxmlformats.org/officeDocument/2006/relationships/slideMaster" Target="/ppt/slideMasters/slideMaster1.xml" Id="R9a845d5dd8b0472e" /><Relationship Type="http://schemas.openxmlformats.org/officeDocument/2006/relationships/notesMaster" Target="/ppt/notesMasters/notesMaster1.xml" Id="R369a4d05d5664f0a" /><Relationship Type="http://schemas.openxmlformats.org/officeDocument/2006/relationships/presProps" Target="/ppt/presProps.xml" Id="Rd9253f29df6d4659" /><Relationship Type="http://schemas.openxmlformats.org/officeDocument/2006/relationships/tableStyles" Target="/ppt/tableStyles.xml" Id="Rc9a97982e1fe41e3" /><Relationship Type="http://schemas.openxmlformats.org/officeDocument/2006/relationships/slide" Target="/ppt/slides/slide1.xml" Id="Rf6affcde38fd41f6" /><Relationship Type="http://schemas.openxmlformats.org/officeDocument/2006/relationships/slide" Target="/ppt/slides/slide2.xml" Id="R84f0f3ecca794db2" /><Relationship Type="http://schemas.openxmlformats.org/officeDocument/2006/relationships/slide" Target="/ppt/slides/slide3.xml" Id="R68d3202d0e054e7b" /><Relationship Type="http://schemas.openxmlformats.org/officeDocument/2006/relationships/slide" Target="/ppt/slides/slide4.xml" Id="R17f580c239ab46be" /><Relationship Type="http://schemas.openxmlformats.org/officeDocument/2006/relationships/slide" Target="/ppt/slides/slide5.xml" Id="R3fb3e6095d944ffe" /><Relationship Type="http://schemas.openxmlformats.org/officeDocument/2006/relationships/slide" Target="/ppt/slides/slide6.xml" Id="R3353c86213c44d93" /><Relationship Type="http://schemas.openxmlformats.org/officeDocument/2006/relationships/slide" Target="/ppt/slides/slide7.xml" Id="R6a93a4e579164321" /><Relationship Type="http://schemas.openxmlformats.org/officeDocument/2006/relationships/slide" Target="/ppt/slides/slide8.xml" Id="Rdf60f57a4deb4ac8" /><Relationship Type="http://schemas.openxmlformats.org/officeDocument/2006/relationships/slide" Target="/ppt/slides/slide9.xml" Id="Recb28466a6364ade" /><Relationship Type="http://schemas.openxmlformats.org/officeDocument/2006/relationships/slide" Target="/ppt/slides/slide10.xml" Id="Re4bd92f8be724de5" /><Relationship Type="http://schemas.openxmlformats.org/officeDocument/2006/relationships/slide" Target="/ppt/slides/slide11.xml" Id="Rfd33973c4dde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e5814a8e4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aad7ec2214e9c" /><Relationship Type="http://schemas.openxmlformats.org/officeDocument/2006/relationships/notesMaster" Target="/ppt/notesMasters/notesMaster1.xml" Id="R3cde018cf37f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722e8eb47d4547" /><Relationship Type="http://schemas.openxmlformats.org/officeDocument/2006/relationships/notesMaster" Target="/ppt/notesMasters/notesMaster1.xml" Id="Rf46c73a00c8649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6976da0c104cba" /><Relationship Type="http://schemas.openxmlformats.org/officeDocument/2006/relationships/notesMaster" Target="/ppt/notesMasters/notesMaster1.xml" Id="R8ce092b8e755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ec8b24f764a3f" /><Relationship Type="http://schemas.openxmlformats.org/officeDocument/2006/relationships/notesMaster" Target="/ppt/notesMasters/notesMaster1.xml" Id="R2ce01b43609f48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e51888cb4d4b3b" /><Relationship Type="http://schemas.openxmlformats.org/officeDocument/2006/relationships/notesMaster" Target="/ppt/notesMasters/notesMaster1.xml" Id="R9e43403cb6284e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088734852f40c1" /><Relationship Type="http://schemas.openxmlformats.org/officeDocument/2006/relationships/notesMaster" Target="/ppt/notesMasters/notesMaster1.xml" Id="R8053d7787bdd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e90c692c3d4de2" /><Relationship Type="http://schemas.openxmlformats.org/officeDocument/2006/relationships/notesMaster" Target="/ppt/notesMasters/notesMaster1.xml" Id="R85431180c67e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dd781239c4d11" /><Relationship Type="http://schemas.openxmlformats.org/officeDocument/2006/relationships/notesMaster" Target="/ppt/notesMasters/notesMaster1.xml" Id="R8c221d20f830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02c497ca1c40b6" /><Relationship Type="http://schemas.openxmlformats.org/officeDocument/2006/relationships/notesMaster" Target="/ppt/notesMasters/notesMaster1.xml" Id="R6f5daef324b346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6a4aaec91f4e3a" /><Relationship Type="http://schemas.openxmlformats.org/officeDocument/2006/relationships/notesMaster" Target="/ppt/notesMasters/notesMaster1.xml" Id="Rbcad196cd5304f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d77b19edfc435a" /><Relationship Type="http://schemas.openxmlformats.org/officeDocument/2006/relationships/notesMaster" Target="/ppt/notesMasters/notesMaster1.xml" Id="Rb57a21e0586f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28c9c69b2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56cf013a724636" /><Relationship Type="http://schemas.openxmlformats.org/officeDocument/2006/relationships/slideLayout" Target="/ppt/slideLayouts/slideLayout1.xml" Id="R47ed3101b40043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d3101b40043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ce906e624ccd" /><Relationship Type="http://schemas.openxmlformats.org/officeDocument/2006/relationships/notesSlide" Target="/ppt/notesSlides/notesSlide1.xml" Id="R874498ca0fb64c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55ed4907b4a9c" /><Relationship Type="http://schemas.openxmlformats.org/officeDocument/2006/relationships/notesSlide" Target="/ppt/notesSlides/notesSlide2.xml" Id="Ref47b15c7fbf45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b26a30a68445c" /><Relationship Type="http://schemas.openxmlformats.org/officeDocument/2006/relationships/notesSlide" Target="/ppt/notesSlides/notesSlide3.xml" Id="R44c956485a884c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0b931c3524b63" /><Relationship Type="http://schemas.openxmlformats.org/officeDocument/2006/relationships/notesSlide" Target="/ppt/notesSlides/notesSlide4.xml" Id="R991fd9bcd4db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315e29dbb4e7c" /><Relationship Type="http://schemas.openxmlformats.org/officeDocument/2006/relationships/notesSlide" Target="/ppt/notesSlides/notesSlide5.xml" Id="Rb3b94c4c57e94f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1900eaa854256" /><Relationship Type="http://schemas.openxmlformats.org/officeDocument/2006/relationships/notesSlide" Target="/ppt/notesSlides/notesSlide6.xml" Id="R7f03b51e1b244f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3506011094c87" /><Relationship Type="http://schemas.openxmlformats.org/officeDocument/2006/relationships/notesSlide" Target="/ppt/notesSlides/notesSlide7.xml" Id="R310bf1996b3b41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37d37e0d4378" /><Relationship Type="http://schemas.openxmlformats.org/officeDocument/2006/relationships/notesSlide" Target="/ppt/notesSlides/notesSlide8.xml" Id="Rc8ef6c7f924447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0d6989bb44ea6" /><Relationship Type="http://schemas.openxmlformats.org/officeDocument/2006/relationships/chart" Target="/ppt/slides/charts/chart1.xml" Id="R95060fe759804480" /><Relationship Type="http://schemas.openxmlformats.org/officeDocument/2006/relationships/notesSlide" Target="/ppt/notesSlides/notesSlide9.xml" Id="Rd171b55bcdbe47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1cdc59a4446e9" /><Relationship Type="http://schemas.openxmlformats.org/officeDocument/2006/relationships/notesSlide" Target="/ppt/notesSlides/notesSlide10.xml" Id="Rbfbbf9a7ae9b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f69f28e9a4747" /><Relationship Type="http://schemas.openxmlformats.org/officeDocument/2006/relationships/notesSlide" Target="/ppt/notesSlides/notesSlide11.xml" Id="Ree4bddee00054dc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HfO2 model enthalpy</c:v>
          </c:tx>
          <c:spPr>
            <a:ln xmlns:a="http://schemas.openxmlformats.org/drawingml/2006/main" w="38100">
              <a:solidFill>
                <a:srgbClr val="F59E0B"/>
              </a:solidFill>
              <a:prstDash val="solid"/>
            </a:ln>
          </c:spPr>
          <c:marker>
            <c:symbol val="circle"/>
            <c:size val="7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7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</c:num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0.261003</c:v>
              </c:pt>
              <c:pt idx="2">
                <c:v>0.633792</c:v>
              </c:pt>
              <c:pt idx="3">
                <c:v>0.800023</c:v>
              </c:pt>
              <c:pt idx="4">
                <c:v>0.620812</c:v>
              </c:pt>
              <c:pt idx="5">
                <c:v>0.248664</c:v>
              </c:pt>
              <c:pt idx="6">
                <c:v>0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94A3B8"/>
                    </a:solidFill>
                  </a:rPr>
                  <a:t>image index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94A3B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41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1E293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94A3B8"/>
                    </a:solidFill>
                  </a:rPr>
                  <a:t>relative enthalpy / eV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94A3B8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B1727"/>
        </a:solidFill>
        <a:ln xmlns:a="http://schemas.openxmlformats.org/drawingml/2006/main" w="9525">
          <a:solidFill>
            <a:srgbClr val="1E3A55"/>
          </a:solidFill>
          <a:prstDash val="solid"/>
        </a:ln>
      </c:spPr>
    </c:plotArea>
    <c:plotVisOnly val="1"/>
  </c:chart>
  <c:spPr>
    <a:solidFill xmlns:a="http://schemas.openxmlformats.org/drawingml/2006/main">
      <a:srgbClr val="0D1C2E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FC992-D3F0-4A01-9C7C-535AE74E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09BCB-0C1C-41E9-B578-A6158BAB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7B5AE-C4AE-4962-9752-F96DB74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DD3C0-3133-4F6C-8531-B3BF798C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A61B9-582B-4051-AB83-AC0E509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8221-905A-4900-A586-532DB4E5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C1CF-EF55-4185-A963-1E78838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6D89F-2DD6-4510-BA7F-A9FD60BE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BEED1-3CA3-4460-AE9F-FA5C11DA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FB85B-C47A-4B96-A254-3207B9DE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DB682-A747-45C8-AADE-4291E5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54E0F-4432-4CC2-9A2D-B4906219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FFB52-7CEB-4AAD-A3C7-2A976DA9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DC427-143E-4660-A686-97ADE870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A950A-50DE-45B1-9B14-B4A5A3C2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3B37A-789C-43C8-AAFB-1EFCCE08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7CF0D-F85E-40DE-AFF1-8E3AF32E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0225D-C5F5-4576-812C-71DA9190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2BEF4-E70B-4B55-82FB-80B6E6CA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06F3B-183E-4FF2-BB03-8BD66B5A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23769-CC96-48C7-8BBD-0BC58C6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Variable-Cell NEB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68856-1F3C-42AE-9CD3-60804C6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基于 ASE 优化器接口的变胞弹性带原型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面向 VASP / ABACUS 的晶体相变能垒计算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F5BFA-A01A-4882-B482-97E4795B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524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D2438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81FBC-116A-4F84-8A15-3BB68586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SSNEB / VC-NEB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20B8C-42DA-4DA5-8819-EBBA3634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9560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D243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70EB7-3F02-4603-AEB4-4109981A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HfO2 T → PO fixture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3B211-186C-4EEA-839A-802978C6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190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D2438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B900A-B944-4178-87CD-95DADEBC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VASP + ABACUS adapters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F45C6A-C0B9-4527-8517-DD43C98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75D45-9EBE-4FC1-94E0-4539B34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0.800023 eV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B6DECB-FDA9-43F4-979A-BC1EEA87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synthetic HfO2 model barrier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4A96B-0F2E-4233-BE9B-5DAE05E2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975715-057E-4347-BEA7-B4E18ECA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52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1e-10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14F928-EE34-4804-8BF9-C424123E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148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force-transform regression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242F8-11CD-41D5-AC8C-DE3E849C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247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FDCD64-9969-4A2F-9EE4-325E0847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7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8E55F-02CD-4439-BC7F-8E5960CF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mapped 12-atom validation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5E43E-483C-43DF-888B-FCDE366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476500" cy="3905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42A969-9FB3-4344-A83A-622F0EF3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859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q + 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B0825C-9926-4C18-8715-C82D01E9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fractional coordinates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cell deformation gradient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837FA5-006D-42A0-9069-D765AC5A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05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2026-06-21</a:t>
            </a:r>
          </a:p>
        </p:txBody>
      </p:sp>
    </p:spTree>
    <p:extLst>
      <p:ext uri="{BB962C8B-B14F-4D97-AF65-F5344CB8AC3E}">
        <p14:creationId xmlns:p14="http://schemas.microsoft.com/office/powerpoint/2010/main" val="1912716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7B379A-4C91-4805-9653-A68395A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3F973-B302-4905-AEBB-BFE96A8D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F3E97-F88C-4FE3-9415-5EAAC774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49E93-7622-4354-BAFC-B85C12E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6C0A1-94D6-4FDF-B04D-0A940168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F080C-934F-4F81-8AC0-B3F4B073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932DF-95ED-433A-891E-4F2596E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7A396-4098-4196-AF7A-E637747C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1C5DA-E82D-4B82-9FF0-A03EBFB7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FD491-6212-4A8F-B136-F4B7EB17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2E183-03F0-4CE9-986C-82ECC313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FC7B6-BC84-424B-BF7E-1CFFF44E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A56F3-1EB1-4C40-8924-E259A1C5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6461B-95CF-456E-91E9-AD692C13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690B2-A74D-41EB-B6C6-D1EB2CA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4C684-14D4-4EA2-BC1A-EA102B8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D2A7B-562B-49E1-9ACD-60A6A93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E98D9-5F6A-42DE-AE12-E25E519C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C8966-B7B6-4CAB-9D9F-7FB14CC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4A658-BE76-4C27-8051-F60FA3C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D0AF7-3FC9-4982-B5CC-FD56D25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为什么固定胞 NEB 不够？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294F3-D16F-4D56-9730-11F286A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固-固相变的路径同时包含原子重排和晶胞形变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6AF34-DC7A-4A55-B0C9-54289CD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9525">
            <a:solidFill>
              <a:srgbClr val="2A46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5519B-4413-44D4-8C43-B95F89AA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普通 NEB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1CB91-8779-4FDB-BD8B-0AA25B1C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优化原子坐标路径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常用 fixed cell 或相同 cell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适合扩散、吸附、缺陷迁移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不自然处理晶体相变 cell DOF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DEDE1-EEC7-4352-AE94-66732B45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76400"/>
            <a:ext cx="31432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A36024-6C33-4370-A42C-17FF3F94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VC-NEB / SSNEB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C2EBF-9249-41B2-BF27-34FC2EC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90800"/>
            <a:ext cx="2381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坐标 + 晶胞联合路径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能量面使用 H = E + pΩ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stress 转为 cell generalized force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目标：晶体相变能垒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F2A50-3ED0-4098-BF70-BCF6F0B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61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BDA0C-24F1-4FE9-8124-7C64264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337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F7341-1F63-4834-B658-3FDE34C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本项目目标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8D3A97-38D0-4083-B84E-48829CD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7241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ASE 是否原生支持：</a:t>
            </a:r>
            <a:r>
              <a:rPr sz="1425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不完整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复用 ASE optimizer / calculator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自己实现 extended coordinate NEB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兼容 VASP 与 ABACUS force+stress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475AB-A06C-434E-9A80-BB29DB52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27146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DE4F5B-361E-4FD7-8AA8-6FC8B38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设计原则：不重复造 optimizer 轮子，只补 ASE NEB 缺失的变胞路径层。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3B487-BEC7-4878-9350-FE574EB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262EF0-845B-4F3C-A917-F77D8A0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BA9B81-4A7B-43BE-93A3-C4F1742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152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72F36-4578-4265-A917-A22D1AA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51C2B-9B81-40BF-80AF-8267A74E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16566-F218-4D37-97D2-B6E645A6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DD549-7B2A-434A-8E61-D70CC540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D240A-5C96-46EF-98F9-B51F3FB6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B0DE7-9277-4171-BE4C-D3E44C5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76D89-DEC4-4F76-9439-7DEA9C29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78731-7B44-4385-A641-482406D5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6C31A-C145-4DBA-8AC8-135C5803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ACC4E-52CF-4A07-8DB2-C652E56A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8C455-825E-4B10-B7AE-84941E5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40245-992E-41ED-B880-8AD09F22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5B7FC-539F-49AB-A021-D33ACED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42C7B-6033-4866-B804-2E5AEFAF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8A5D7-7787-49EB-B862-1BC5EFCD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A567E-B12E-4F07-A723-246B190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CFBB2-F2D9-47EB-BE98-36201FFF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9B4C0-8116-463E-BE1A-DC68BDDD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AEDD2-2C85-47E3-AF58-98FED642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95886-8334-4524-B9E9-6B7709F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AFBC7-D815-4021-A536-7FF24B78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理论方法：把晶胞放进 NEB 坐标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4CB6D-2562-498F-BF25-05B5C1D0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从 NEB 的投影力思想扩展到 solid-state / variable-cell 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3B9B9-C7A4-4845-9EB4-EE89320A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扩展坐标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C2FB3-773E-42B2-84C1-F1B9E2B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26834-121F-45BB-BCA1-3ECB134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Xᵢ = [ qᵢ · cell₀ ,  L · (Fᵢ − I) 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C6E8B-2B4A-4431-84CE-4CF7189E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32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q: fractional atomic coordinates   F: deformation gradient   L: cell_scale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99A64-20C1-4986-8C5E-243035F1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热力学量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D8C56-7901-4489-B988-8E74792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953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BB3BC-54DC-46CB-9EC3-F508517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Hᵢ = Eᵢ + p Ωᵢ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869DD-4DD1-4486-B606-47A1FD83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external pressure enters the band through enthalpy and cell force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943AC-B0F2-444C-A6ED-92D4E44C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NEB 力分解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C108F-39B9-4328-9421-DDB2F78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5148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762D9-6FA0-4507-832F-51C9630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切向量：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基于能量上坡/下坡选择 improved tangent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真实力：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Cartesian force → fractional generalized force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胞力：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stress / virial → deformation-gradient force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弹簧力：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只保留沿路径切向分量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climb：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最高中间像反转平行真实力，逼近 saddle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B921C-3669-4988-9AFD-0314483E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A57E2-8CE0-4E30-A892-970F0128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3C4B4E-E1CF-4A8D-8734-81E3730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158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ED9D0-9CA6-44F6-8471-0288DD2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2E86-B20A-40B4-A493-1A4C9DD5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00883-25BE-4D62-B16F-272E00BF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204F2-967D-4499-9803-954CB987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DBD58-27C4-468F-9A5B-9A67F38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ABC93-CFD7-4264-B896-775F4823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A3DBF-85BC-4F3E-B28C-F7DAF412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803C7-4460-494F-B3B5-F2F7D6C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20A6C-628E-478F-B1C1-F2AA977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EEB7A-50F8-499D-8479-288BFEFF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7A4FA-FC62-4E52-91EA-4D996EE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AA7DF-A97C-40B4-BE00-BEA1A9B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11F3F-DEE8-48D2-8D15-7997D975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979CA-647C-459C-87EA-3DA108C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79505-721D-45F1-B527-7784FD3C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BEF36-EA5C-437C-A86B-9A13081D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8EB3D-8DE6-4E0C-9AC4-81ECD232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EAF5A-AACA-4453-ADC9-05BC43E0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0033D-C9EF-445D-AE0B-0574FFAA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1455A-4E29-417A-B241-B99B84F0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3F43E-93F7-4FD9-AF1C-454A98DC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算法流程：复用 ASE optimizer，自研 band 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6BA6D-FBC1-486F-A6AD-2FA8AE7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VCNEB 对外像 Atoms/Optimizable，对内维护整条变胞路径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3EFA4-029B-4768-B28D-95C20F4D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56B8A-5578-4BE5-BA42-3A600152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Endpoints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B5844-8480-417E-AC40-9593FD8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same atom order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cell may differ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5D240-7873-4362-8514-C25A53F3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F7D2A-7897-40AC-8CA4-C2F3E9B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11656-F12C-45C0-A4B8-3D17616D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8A495-F28E-4F28-8341-B45E279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Interpolation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479B62-2886-4061-8CEA-2D7198A9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fractional q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cell deformation 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79C1F-C5E1-4CF1-9074-31EF499D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B47DE-EE16-47A6-9101-98462BA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A22DB-71F9-4F79-825B-F6DB6C26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BA5093-CA90-4F45-8C4D-FD1073F0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Calculators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B5F4B4-2D76-4AEF-A4D8-5B5A8A2C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energy + forces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+ stress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A07EF-0FC0-4900-A8D0-7C094C5B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CC9825-9EE5-4D62-81E1-5F002DD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E8AA89-D466-47EE-9325-09C5DAE8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9CF3A5-D633-4253-A637-E50B30EF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VC-NEB force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7A79F4-C3F1-4731-AD69-A810A1FA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project true force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+ spring + climb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64E97E-6422-46A5-892A-F2E465B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6063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C552CD-9F00-46C9-A4F6-443FB13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33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01EB5B-2769-454F-9D97-1A268A5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152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2019E1-7A10-4747-BE69-3599798B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ASE Optimizer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EBE6B0-6B9F-494D-830A-ABE05E39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FIRE / BFGS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LBFGS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377CC8-8F46-47B9-BC8A-C609EED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963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10478">
            <a:solidFill>
              <a:srgbClr val="1E3A5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2C6E25-446C-4949-ACD5-4A7C359E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核心接口：</a:t>
            </a: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get_positions / set_positions / get_forces / converged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关键好处：</a:t>
            </a:r>
            <a:r>
              <a:rPr sz="1425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优化器、VASP、ABACUS 都不需要理解 VC-NEB 的内部数学，只要遵守 ASE calculator 契约。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F27B26-6E9B-452C-AE37-B574998F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9A4BE4-8A11-476F-95B4-DC5E477D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8F6890-0D81-4173-BCC6-9D072144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2092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F41B0-8FFC-4703-83F6-90A90C0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7E2E-11A6-43FA-AA1A-6F46174B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C85C9-4015-4549-9F98-C948A4D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601C0-04C6-4E43-83F0-21CCAB1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04F79-1A8C-4CF9-9E2F-4326D041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8026C-ED38-44D2-93BB-08DD37E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746C-D2CE-48F0-922D-45AD1E3D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39FD8-3F10-4C19-8DEA-21F3F94C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36BD2-8402-4128-83A3-B690E4C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4216C-A35A-45C0-AF11-32ECE8D6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D8EC1-8125-4BA8-A81C-D8C7FF87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A7F77-A1C6-4556-A2C2-2259266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0248D-680A-4E29-B3D1-CC0ED818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8B6CB-7F7B-422C-96B5-565757C2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753C4-88B2-4EFB-B21F-8DF248A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A3F9A-D6F4-497F-92D4-E0462F6A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68645-2647-4041-958B-95752E32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EB04D-2FA1-400D-AFF1-88FC6583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6A758-84A0-425A-9CBB-C643C1D7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D5781-0ECE-40BB-98A5-A586208A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B9763-DCC0-4D23-AC38-A8A3C3F0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代码实现：小核心 + 适配层 + 可验证样例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73F0C-AE1B-4FFB-9EEA-9B6523D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保持 calculator-agnostic，把 VASP/ABACUS 差异关在边界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ED0AE-6468-47DF-BEB5-8FB978D4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36337-A605-4EAC-A866-8686C4E5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vcneb/core.py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D7166-D8CD-46B1-82CC-AD18AC84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VCNEB class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interpolate_vcneb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run_vcneb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resume helpers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FD116-57ED-4675-B574-284C83FA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5C463-0A43-4052-815F-9924D376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vcneb/vasp.py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9F844-7A39-4CE1-9DA1-704B3EA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76450"/>
            <a:ext cx="1924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read INCAR/KPOINTS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copy POTCAR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per-image calculator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66310-F285-4D96-94E7-904E4E02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F03D3-800B-4D1F-93D8-B2CB2C3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vcneb/abacus.py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855379-0344-4596-B22B-EB64ABDC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2114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factory adapter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AbacusProfile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force/stress keys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B9A6BF-0813-477E-9EC0-A8AB2E8F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714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034"/>
          </a:solidFill>
          <a:ln xmlns:a="http://schemas.openxmlformats.org/drawingml/2006/main" w="13335">
            <a:solidFill>
              <a:srgbClr val="A78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A77396-2E27-430D-B7C0-B7A9721B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scripts/tests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12B034-0C74-4547-85F6-9C7DC55D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1447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fixture builder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input validator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regression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B334D-68DE-4E79-BEB6-E15E9BF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762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F59A57-3732-4B8D-AAE1-64FE654B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工程判断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0F41D5-23FA-43EC-81DD-109B79A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端点不进入 optimizer DOF，避免漂移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force/stress 变换做有限差分回归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resume 只恢复几何，优化器状态重新开始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F1C35F-C0A5-49C7-9D5D-6A4401B8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4762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40E553-75A4-4543-86AE-6BBB80C8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A89D71-E690-4153-B791-08883203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本机只做代码与静态检查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所有 smoke / model / DFT 都去 235 → cu05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真实 DFT 能垒尚未启动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A7E997-6A34-4217-9597-B3B7263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D1D5FB-07AC-4718-BC29-0B093CB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5BB1B0-1D19-4A53-8EC0-9F1AEC48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742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BC68D-0338-4EE5-BA06-6FC4F43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BAB60-2629-4D46-B6DA-E68EED40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4BCAC-6F0F-43E8-AB43-B5FFC9D5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AAC11-20A3-44C3-9013-EF3ADDD2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BFED9-032F-44E4-86E6-2012E1D2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D1DFA-418B-44EB-9E39-15AD7848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482C5-AEEB-409C-B621-B76396EA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6B73A-639B-4FA7-AF7E-C3EAB1B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B6305-34BF-4C17-A9DF-A2706158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7490D-56C0-4446-8BE3-85135D22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A1EF5-4179-4E3C-9B9B-2EB0F3FE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A88BB-570F-4F8E-A5AB-184B644F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D3FFA-D913-45E5-A4DC-BFE03C69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90E57-5A5C-43DB-85F4-1A050CB3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2F8F8-A8EE-46D4-9246-64B24F5D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604C4-32F2-4EA2-9A7B-21D6FE54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C4EAA-89DA-4A86-B0DA-CA76A33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E30E1-B0E4-4947-995E-053F368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309DB-3053-446B-A688-0CBB9B4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2B097-0C53-4505-A2FC-EC61C7D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3857B-CFF4-4B00-BEFB-7A06BCB1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计算器接入：VASP 与 ABACUS 的共同契约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0DE0D-8E62-455A-AF5E-FFB53CD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每个 image 都只需要给出 energy / forces / stress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1D98D-FA0C-4AF2-AFA1-5D992527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33FE2-52F7-4633-9130-D71C018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VASP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38424-D2F0-49C4-8FD9-10C5B4E0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从 endpoint 目录继承 INCAR / KPOINTS / POTCAR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强制单点力和应力：IBRION=-1, NSW=0, ISIF=2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ISYM=0 避免路径 image 被对称化改写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支持 --resume 与 append trajectory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17DF1-02F6-44F4-A5A7-F9CD8637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867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9CE70-B4B9-4FF2-AEBB-88DEECEF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examples/run_vcneb_vasp.py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--initial initial_state/relax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--final final_state/relax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--workdir run_VCNEB/run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--n-images 7 --mic --resume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E7457-AAE5-4C88-858C-AC82DEBD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06D0E-41D4-4E32-87B1-F9EA187E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ABACUS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1B567-5642-4219-A06D-87A9675C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ASE AbacusProfile(command) 兼容 235/cu05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强制 cal_force=1, cal_stress=1, out_stru=1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参数字典留给材料体系填 pp / basis / kpts / ecutwfc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生产前先做一轮 force/stress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E3E63-4B94-49C4-8EA9-B7BEF635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3867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CD117-CE46-466A-B79A-E78E167E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examples/run_vcneb_abacus.py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--initial T_HfO2_12.vasp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--final PO_HfO2_12_mapped.vasp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--workdir abacus_vcneb_run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B3E0B-E7E5-492D-9A78-FDD2A113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F23DD-D365-45AA-BB3F-A2529640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EB50A-9B97-4E9E-AFA9-12A7146D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1788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8BEC4-61E9-45DF-9759-A1831CFD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72B3F-A9A9-41F2-BF53-D998E8F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AA9DB-9745-44FD-9CC3-24B5B8E2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02E7C-498B-45AB-9EE7-1BDD783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BE347-69B0-4381-9E71-4B9187E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54FAC-BB19-4A08-A742-60CFF07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585C6-ED73-47E0-B575-60F33A11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40A28-0ECA-4F97-9F1C-4813CBF0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9F62A-64BB-4E9A-AB3E-19EF97FD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5FEB-989D-4F68-8655-8F6F51F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A196A-F117-405C-B8CD-DD0DE96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3C207-813E-42DD-83AE-9380D1F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28950-2900-432D-88D2-3FEE2340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1692D-7DC4-47CD-BABC-782A612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D383A-548B-4F90-AA49-25C77C5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BA823-57E6-4173-8EAF-E45ADF28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BAA0-A320-44E1-97C1-173C493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FD74F-7A6A-44D6-B20C-8D568FD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6F09C-C949-45DE-832A-04D2F792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34DAB-320C-4AED-B09D-BEE1B88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F6355-FDBA-4D83-B987-10004F5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真实结构测试：HfO2 T → PO 的 12 原子变胞路径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9AE14-AF57-41E7-A8A3-51920D41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不是物理势垒计算；用于验证 mapping、PBC/MIC、cell interpolation 和 optimizer 机械正确性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67661-2D0D-4D3A-BC0C-5D231A59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B4BAC-4405-4EDD-A982-98809BF1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0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T-HfO2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DE6AC-E131-4C9D-B919-2B36BCD0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P4₂/nmc (137)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D6670-3858-4A28-8DA1-C3683201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12 atoms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5.075 × 5.075 × 5.230 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9D6865-4D14-423C-9389-22F0A16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A6760-6518-467B-AB1D-E38B7C32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95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6C0D1C-81CF-415F-8F21-27EBBD3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FD0B9-4B28-4308-B99C-2790F9EF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956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ECAB1-C481-413B-BA70-4B6D9E30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38400"/>
            <a:ext cx="2476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EF88F-821B-4FAE-ABFA-4CA933D3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translation [0, 0.5, 0.5]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Hungarian species mapping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mean distance 0.5176 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FD11F-3A7A-46BC-BBF8-87B3384F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432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FCA1B-78E5-492C-AC0D-06F170D0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90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6521C9-665A-4905-BD19-20201D0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43213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950B8D-3F79-41BD-AEDB-8E6D3FC9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90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C42BBE-F01D-4F67-84E2-EE6F36B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954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B0663B-0F6E-4FD7-8348-E3BD5C8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PO-HfO2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C7111-98B7-4F43-AC09-61F47CD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Pca2₁ (29)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AC118-FB2A-43E7-AE2E-037593C6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12 atoms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5.208 × 5.006 × 5.021 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60CC5F-FB81-419E-9442-44CB4F2D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23801F-837C-4C3F-A41B-793DA080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DD1A6E-8E8C-41D6-8BEC-5102CA00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575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E3F296-004B-4729-A75A-5E906D7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1BDDC6-2117-477D-8BC8-8F5D1E91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923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E518E-5174-4DE2-B82F-D488BB32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初始路径段长：0.36144, 0.36089, 0.36036, 0.35983, 0.35931, 0.35881 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1E8247-4CE5-4A29-A06E-AB38C73E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788115-FB71-43DE-8F8D-DAC451B5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E7CFAF-B94A-487A-A3E0-ABE09770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9725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08CD0-7589-4E69-AC8A-EA0492DD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CD299-1D52-43DF-AD81-75CC0AA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9784-514D-4103-8880-53D487F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5A7CB-2B8E-42A4-AB60-7543FE3D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41EA3-533D-498E-8111-85D55BEF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2554B-FA65-4EAA-808C-8990EEE5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9BBBC-3FBD-4D20-81D2-E8F9CF4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3D71A-59E1-4386-B8BB-12179C8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C3BFD-B330-4497-B9D9-3CF6BE23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1299D-D5D2-4316-B407-5CAAAF64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F7E49-DF76-486E-A353-E00BB5F7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4993D-9552-4A92-BF19-86B31E32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6CA32-F402-43AA-BB78-D70ADD0C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10C41-EC67-41D9-A167-557FEC5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BC4B0-D83E-47AE-A8A0-DF44FF6F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D4BA1-1C52-4814-8C4B-08032FE6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3B334-E545-4A9C-929F-33351E52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8EEB0-1D0E-4AB9-AC68-C1ECA060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39F0B-F7B1-4B5C-9B7B-965A918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2069F-ED9A-4ECC-BF21-45319EBC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979EC-BCB9-4CE8-8576-62CD5D92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验证矩阵：从数学变换到工程恢复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4B180-E21F-4831-B224-98ED2CF7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目前完成的是算法/接口正确性验证，不是最终 DFT 物理能垒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202BF-B1D6-470F-A961-AB861DB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2870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FB6E7-36CE-43BB-9F4A-239E7D2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50141D-28B3-440E-AEF0-7B58AD02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What it protects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978DB-2856-476F-8394-ED73C4C4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E62425-7311-4A00-9C51-70CB6A97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43E18-DB51-4C96-8739-52398B5C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finite difference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77A59E-91FB-44F3-B444-84D8C84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24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fractional force + cell force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F4A86-7809-49B0-A080-324DA58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3.18e-11 / 5.66e-11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14D91-A22F-460E-AFBB-D777449B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241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6484D-B9F6-4D5A-BEF5-DBB2FDCB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cell_mask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28C2C-91F7-46D9-A386-89676ADE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inactive cell components do not move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1D3536-2FF7-4F88-A97E-D9FBBC7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A54624-BA0F-4972-A9EC-4D504545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24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F33F3-4779-417C-8A74-7E92BE1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86AE99-D4B3-4E51-8EA5-AAC7A06F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resume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C0CEEE-A9AA-4408-A285-29BFC2C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24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complete chain; ignore partial tail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8DA623-E28D-45CF-ABB6-EAEC56F2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18C6D6-9F85-46B5-B1AE-08B1351D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10D471-299F-4FFC-BD42-BC43E9B0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snapshot append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731A9E-C482-4B30-B772-FE0A430B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resume does not overwrite old snapshots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55A63D-9427-41FF-99C8-D0B74EB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B9A93A-BD5A-45D2-B39F-FB011654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24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3E3CEE-1FD7-4684-B069-CC80098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DC7ED3-435A-4451-8B4A-D39670F9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optimizer 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EA2812-FFD5-4D50-9A99-459DB54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24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FIRE/BFGS/LBFGS shape compatibility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C5A184-1C80-4BC8-890E-CEF1FB0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BFD0AD-26B1-422D-A61E-55DC683E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24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28798F-6CFD-4EAD-982B-BDFBF2D7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ABACUS adapter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E5AE6E-03C8-4CB2-ACBC-7AD489F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24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AbacusProfile + required force/stress keys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9CB9CA-BA98-4155-BD62-F098B75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1371C9-676B-466B-87D2-2E91230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24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A461D3-1D42-4C2A-978B-904997E1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969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FE0165-0D10-46FB-AD4A-AB5DC39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parallel ownership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EBD471-C776-465E-8A3A-89A91C5B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24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rank-0 endpoint evaluation only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BAEE7F-E4F6-46F6-B05F-E70E0DA4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60B420-5F48-4CDC-A85A-12CD61BE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24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C89E98-FBA3-41F6-ABB6-27023A98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远端验证：235 与 cu05 上通过；cu05 的中文 PID warning 不影响 Python 输出。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0E9391-9DDA-4C24-BD90-B4C3EEAF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F3D7CA-9889-4371-B8BE-862AC664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CC1B30-AC52-4CAC-AB5E-517F26E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5816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0825A-9D99-4D9C-B24A-4CC7B63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0C96A-F8F9-40A6-AE29-5A58DFAB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A75C3-D32F-424C-93A5-B1257E0A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34C2E-D5CC-4BEB-94DF-A3009E20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BC870-D687-4D70-91BE-4F2918F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80214-0BAD-430F-92FD-A27535F3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ED73A-38DB-4C47-9498-5C2B41CE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4B209-A4F4-4369-922F-29211C1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673D2-A864-403D-9971-47DE608C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8098-41A5-4E4C-917F-C7D12BFD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13537-BE12-4527-9531-F4E87F2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102EC-ABB1-46F3-A12F-81D91C83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A4A04-E993-4ADA-8944-63B3D07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866DC-D9BF-4B09-9AAA-057A34A8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AF9A7-B8B0-416A-A978-CA05DF80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23BBC-8DD3-4220-9EEB-FC5FB7AB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E526F-4626-4E91-BAD9-30677E58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425D0-54E0-4B88-8209-D516DE3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3B84F-27C6-4666-9B7D-22F37A05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35FCB-F168-4473-92BD-49DA9412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9DF98-53BA-4C49-8A53-2B4E12D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测试效果：analytic toy 与 HfO2 model 都收敛到预期路径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9D840-7D5F-4D01-A561-F01A097F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HfO2 model 是 synthetic double-well，用于验证路径机械正确性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2F710-5359-4A4F-89B6-E7AADCDD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429375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1E3A55"/>
            </a:solidFill>
            <a:prstDash val="solid"/>
          </a:ln>
        </p:spPr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1066800" y="2000250"/>
          <a:ext xmlns:a="http://schemas.openxmlformats.org/drawingml/2006/main" cx="5810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060fe759804480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8569A-B29D-4F84-87D4-D66A36CF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28800"/>
            <a:ext cx="278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2B4B7A-A995-4F54-81FE-1EDCE1C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62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0.250004 eV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D35D2-1860-4A69-9776-A769E58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analytic toy barrier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06698-BB50-43E1-8F95-F8A6D7C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278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1027A-BB64-4ECC-B7C4-6F1A7F24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0.800023 eV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69020-BF26-47E2-A755-9D1747FB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HfO2 synthetic model barrier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9D09C-0ADD-4826-ACC3-AF12091E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278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C2E">
              <a:alpha val="80000"/>
            </a:srgbClr>
          </a:solidFill>
          <a:ln xmlns:a="http://schemas.openxmlformats.org/drawingml/2006/main" w="9525">
            <a:solidFill>
              <a:srgbClr val="1E3A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42BED3-58AE-4A92-A281-E1DB8D79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95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0.000000 eV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15D25-A034-4C3A-B0A2-7F7FA0F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57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reaction enthalpy delta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00FDBC-15D6-4F8E-921B-FC03097D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24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B7185"/>
                </a:solidFill>
                <a:latin typeface="Microsoft YaHei"/>
                <a:ea typeface="Microsoft YaHei"/>
                <a:cs typeface="Microsoft YaHei"/>
              </a:rPr>
              <a:t>解释边界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7B02E-F64B-4153-9C79-B9F3DC1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这些数值不是 HfO2 DFT 相变能垒；真实文献对比必须等 ABACUS/VASP force+stress smoke 和完整 VC-NEB 后再做。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C64862-7A3E-4C90-AEDD-8A6BF37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EE6208-DEB5-4921-BC11-46CB13DA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8B04D-A539-4649-A62B-C6232277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11385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4A20A5-D542-4485-8F64-8E30DE73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A728F-CB0E-4CD6-8BBC-ADE12CD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4330F-7B6A-4CDE-A131-2F94BE4F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DECC6-67AF-4178-96DA-A9293388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EAB68-80AB-41AD-A20C-C8449E6E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83362-B7EA-46D3-BF36-60D128B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70A46-F234-43D6-A577-6C87F2F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F28B8-A858-4104-9993-AE34EF0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3C103-06AB-43D2-A5B8-A48C3CD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F969B-405D-4F93-871E-8AE5D1B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2F994-501D-45FC-A03A-30265FF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B55E8-E3A7-41FD-9886-C634A739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6F5FE-B87C-4EE0-9738-B2E3E5D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9F599-0EA2-43B1-A25F-2D27BD5D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08E25-D653-49D1-9B4F-9391FBF0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64E42-C6D0-4BEF-89A6-C3B231BC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529EB-4822-42E0-9C19-BD79341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165E3-A58A-4201-A4E0-EC7F225E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F02BE-1890-43F9-B8F5-832F16AC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66FA5-71A0-4F40-905F-EE1A051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FB05E-F0C1-4C7F-9363-DEC1E019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使用方法：只在集群跑执行验证与 DFT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E8FA8-3600-49FF-9AB3-A600BE0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本机用于代码与文档；所有计算走 235 → cu05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7D20A-B92D-465E-8E02-F7FFF74D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5048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828C7-394B-4181-8D32-8EE5D6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47053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ssh 235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ssh cu05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cd /home/zhuxd/abacus/agent-runs/20260621-vcneb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# static check before launching calculators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scripts/validate_vcneb_inputs.py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--mode abacus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--template-dir path/to/abacus/template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--image-root validation/hfo2_t_to_po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2547D-61E1-4955-89E4-0745B327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50482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7101D">
              <a:alpha val="80000"/>
            </a:srgbClr>
          </a:solidFill>
          <a:ln xmlns:a="http://schemas.openxmlformats.org/drawingml/2006/main" w="9525">
            <a:solidFill>
              <a:srgbClr val="1F3B5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B1717-C911-4251-8906-A1FFB468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47053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# VASP example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examples/run_vcneb_vasp.py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--initial initial_state/relax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--final final_state/relax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--workdir run_VCNEB/run \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  --n-images 7 --mic --resume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# ABACUS example: fill pp/basis/kpts first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C4F1FF"/>
                </a:solidFill>
                <a:latin typeface="Aptos Mono"/>
                <a:ea typeface="Aptos Mono"/>
                <a:cs typeface="Aptos Mono"/>
              </a:rPr>
              <a:t>python3 examples/run_vcneb_abacus.py 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A5108-4E0E-4340-AC30-C4EA1B7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8477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782A9-6C1A-4303-ADF7-C650456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安全约束：不要在本机跑 calculation-like Python smoke、model optimization、VASP、ABACUS、NEB 或 VC-NEB。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23D9DF-6EA7-4A0D-B4C4-0DB6139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F7625-34D0-4A55-8A6F-CA6DAE84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44FB6C-9776-461D-8A0B-03D7F1A8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563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8D64C-D38E-404A-B09F-3EFBC28A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93734-F3F0-40AF-BF18-55391F4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65000">
                <a:srgbClr val="0B1727"/>
              </a:gs>
              <a:gs pos="100000">
                <a:srgbClr val="10151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A876C-C398-41EB-9952-8D9229B0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87382-E097-41B1-A02E-BA359B96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04CC6-90A5-428C-BCF3-879AA157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EB966-C1CF-4F05-A5DD-91D2EEDC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3194A-3D95-4832-9CA2-EC7B0268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2E23A-A201-472E-AC65-4638050E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802A-6BE0-4FDE-BCBC-7E9E244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AC6F2-0EFE-461D-99A8-1EF2EBB3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75A35-B168-4C5F-8490-4F043C3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42115-96EC-478C-B660-329B54BE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6A9F9-10AC-466F-A7AC-81FDBCB5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33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1F471-6479-494A-A491-D9AA1B21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4901B-CD14-4C16-968A-B668E82A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05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02DB9-F8C9-44F8-BE84-596D147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0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4DC97-3D0D-421E-8CF5-8D8383BF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85BA7-3B6F-40CC-AB60-EA6FBD7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62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>
              <a:alpha val="4392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D8084-CCB3-4563-8C35-129585B2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-381000"/>
            <a:ext cx="20955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53A">
              <a:alpha val="5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74AAA-3139-4F68-9F64-A01CF39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2582D-568F-4E6B-97F8-9A373C80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文献对比与下一步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B5FA1-E432-4949-9ED1-314E697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方法方向对齐 SSNEB/VC-NEB；数值对比需要真实 DFT 路径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FC46F-4778-4270-832F-3A8874F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4C006-1494-441F-B5C6-83516658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文献定位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2AA5F-48FA-42E8-89B4-33DFA85E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ASE NEB：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原生路径层不处理周期变胞 NEB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SSNEB：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把晶胞 DOF 纳入固-固相变 MEP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HfO2：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文献强调 T/O/PO 路径与 atom mapping 会影响能垒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5CCB3-2FF6-4E08-A64D-958F40C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参考：ASE NEB docs; Sheppard et al., JCP 136, 074103; Liu &amp; Hanrahan arXiv:2301.06248; recent HfO2 T→PO arXiv:2508.05345.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0F044-6927-47BC-A166-DC966531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4857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1C2E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55F1D-146D-40D7-AA14-2BF73122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43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A1ADA-F1FB-4E9A-A056-90E4A6B0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390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/>
          <a:lstStyle xmlns:a="http://schemas.openxmlformats.org/drawingml/2006/main"/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1. ABACUS smoke：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每个 image 一步 force/stress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2. 低精度 VC-NEB：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验证真实 calculator loop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3. 收敛性：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image 数、k、fmax、cell_mask、压力</a:t>
            </a:r>
          </a:p>
          <a:p xmlns:a="http://schemas.openxmlformats.org/drawingml/2006/main">
            <a:pPr marL="20" indent="-12">
              <a:lnSpc>
                <a:spcPct val="112000"/>
              </a:lnSpc>
              <a:spcAft>
                <a:spcPts val="6"/>
              </a:spcAft>
              <a:buNone/>
              <a:def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4. 文献对比：</a:t>
            </a:r>
            <a:r>
              <a:rPr sz="1350">
                <a:solidFill>
                  <a:srgbClr val="E5EEFB"/>
                </a:solidFill>
                <a:latin typeface="Microsoft YaHei"/>
                <a:ea typeface="Microsoft YaHei"/>
                <a:cs typeface="Microsoft YaHei"/>
              </a:rPr>
              <a:t>只用真实 DFT barrier 对比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A63F7-D3D0-4701-9E41-7710BCC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767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当前结论：代码层已具备可测试原型形态；科研结论层仍需真实 ABACUS/VASP 路径计算闭环。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C11C0-088D-4A9E-B8AE-B752A0A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5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DB3F37-103B-4525-A520-E34D603A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VC-NEB prototype · ASE + VASP + ABACUS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49DDC-65AD-4764-AA54-E4671BF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0555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2026-06-21T04:38:51.0600000Z</dcterms:created>
  <dcterms:modified xsi:type="dcterms:W3CDTF">2026-06-21T04:38:51.0600000Z</dcterms:modified>
</coreProperties>
</file>